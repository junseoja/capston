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097280"/>
            <a:ext cx="3291840" cy="3291840"/>
          </a:xfrm>
          <a:prstGeom prst="ellipse">
            <a:avLst/>
          </a:prstGeom>
          <a:solidFill>
            <a:srgbClr val="0E7C7B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138160" y="3108960"/>
            <a:ext cx="2377440" cy="2377440"/>
          </a:xfrm>
          <a:prstGeom prst="ellipse">
            <a:avLst/>
          </a:prstGeom>
          <a:solidFill>
            <a:srgbClr val="2AA8A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B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CAPSTONE FINAL REPORT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3504" y="12344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8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관리 · 인증 SNS 웹 서비스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4114800" cy="457200"/>
          </a:xfrm>
          <a:prstGeom prst="roundRect">
            <a:avLst>
              <a:gd name="adj" fmla="val 20000"/>
            </a:avLst>
          </a:prstGeom>
          <a:solidFill>
            <a:srgbClr val="E8833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본인 담당 파트 — 백엔드 · DB · 인프라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수록 섹션  </a:t>
            </a:r>
            <a:pPr indent="0" marL="0">
              <a:buNone/>
            </a:pPr>
            <a:r>
              <a:rPr lang="en-US" sz="1200" dirty="0">
                <a:solidFill>
                  <a:srgbClr val="BFD8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데이터베이스 구성  ·  3.3 소스 파일 구성  ·  3.4 메뉴별 기능  ·  3.7 느낀점  ·  4. 향후 과제  ·  부록 실행 방법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786384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89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컴퓨터공학과   </a:t>
            </a:r>
            <a:pPr indent="0" marL="0">
              <a:buNone/>
            </a:pPr>
            <a:r>
              <a:rPr lang="en-US" sz="1200" dirty="0">
                <a:solidFill>
                  <a:srgbClr val="BFD8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학번 20XXXXXX   이름 OOO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데이터베이스 구성 — 개요 및 설계 원칙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32004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07008"/>
            <a:ext cx="82296" cy="32461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DBMS 환경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1783080"/>
            <a:ext cx="2880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MySQL 8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AWS RDS 관리형 인스턴스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접속 계층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FastAPI + PyMySQL 커넥션 풀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문자셋 · 시간대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utf8mb4 / KST(+09:00) 통일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테이블 수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총 14개 (5개 도메인 그룹)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86200" y="1207008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886200" y="1207008"/>
            <a:ext cx="82296" cy="15544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4087368" y="1353312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UUID v7 기본키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087368" y="1755648"/>
            <a:ext cx="20025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PK는 CHAR(36) UUID v7. 시간순 단조 증가로 B-Tree 인덱스 효율↑, 추측 불가로 보안↑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55080" y="1207008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1207008"/>
            <a:ext cx="82296" cy="15544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8" name="Text 16"/>
          <p:cNvSpPr/>
          <p:nvPr/>
        </p:nvSpPr>
        <p:spPr>
          <a:xfrm>
            <a:off x="6556248" y="1353312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Soft Delete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56248" y="1755648"/>
            <a:ext cx="20025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주요 도메인은 deleted_at으로 논리 삭제·복구 가능. (feed_comments·feed_likes는 Hard Delete 예외)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886200" y="2898648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886200" y="2898648"/>
            <a:ext cx="82296" cy="15544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4087368" y="3044952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트랜잭션 · 커넥션 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087368" y="3447288"/>
            <a:ext cx="20025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라우터마다 try/except/rollback/finally로 풀 반환 → 장기 운영에도 커넥션 누수 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55080" y="2898648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55080" y="2898648"/>
            <a:ext cx="82296" cy="15544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6" name="Text 24"/>
          <p:cNvSpPr/>
          <p:nvPr/>
        </p:nvSpPr>
        <p:spPr>
          <a:xfrm>
            <a:off x="6556248" y="3044952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참조 무결성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556248" y="3447288"/>
            <a:ext cx="20025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FK + 복합 인덱스 설계. 탈퇴 사용자는 LEFT JOIN+COALESCE로 게시물 보존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데이터베이스 구성 — 테이블 구성 (14개)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52144"/>
            <a:ext cx="40690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152144"/>
            <a:ext cx="82296" cy="1536192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8E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피드 (소셜)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6656" y="1554480"/>
            <a:ext cx="36667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feeds — 인증 게시글 본문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feed_images — S3 파일 URL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feed_comments — 댓글(Hard Delete)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feed_likes — 좋아요(UNIQUE 토글)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0690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" cy="1536192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92608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8A7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챌린지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6656" y="3236976"/>
            <a:ext cx="36667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challenges — 관리자 챌린지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challenge_participants — 참여 매핑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challenge_proofs — 인증 본문·피드공유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challenge_proof_files — 인증 파일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1152144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17720" y="1152144"/>
            <a:ext cx="82296" cy="10241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8" name="Text 16"/>
          <p:cNvSpPr/>
          <p:nvPr/>
        </p:nvSpPr>
        <p:spPr>
          <a:xfrm>
            <a:off x="4818888" y="1243584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 · 세션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37176" y="1554480"/>
            <a:ext cx="3666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users — 계정/프로필(bio·아바타)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sessions — 로그인 세션·만료 관리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2322576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17720" y="2322576"/>
            <a:ext cx="82296" cy="102412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22" name="Text 20"/>
          <p:cNvSpPr/>
          <p:nvPr/>
        </p:nvSpPr>
        <p:spPr>
          <a:xfrm>
            <a:off x="4818888" y="241401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A8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37176" y="2724912"/>
            <a:ext cx="3666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routines — 시간대별 루틴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routine_completions — 일자별 완료 기록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17720" y="349300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3493008"/>
            <a:ext cx="82296" cy="10241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3584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37176" y="3895344"/>
            <a:ext cx="3666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notices — 공지</a:t>
            </a:r>
            <a:endParaRPr lang="en-US" sz="1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reports — 피드 신고(카테고리 6종)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데이터베이스 — ERD 관계도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pic>
        <p:nvPicPr>
          <p:cNvPr id="8" name="Image 0" descr="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97280"/>
            <a:ext cx="2773924" cy="3611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0" y="117043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14개 테이블 · 5개 도메인 그룹 · FK 관계 24개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657600" y="1728216"/>
            <a:ext cx="201168" cy="20116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1" name="Text 8"/>
          <p:cNvSpPr/>
          <p:nvPr/>
        </p:nvSpPr>
        <p:spPr>
          <a:xfrm>
            <a:off x="3968496" y="1655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 · 세션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968496" y="19110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users, sessions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657600" y="2276856"/>
            <a:ext cx="201168" cy="20116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4" name="Text 11"/>
          <p:cNvSpPr/>
          <p:nvPr/>
        </p:nvSpPr>
        <p:spPr>
          <a:xfrm>
            <a:off x="3968496" y="220370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968496" y="245973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routines, routine_completions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657600" y="2825496"/>
            <a:ext cx="201168" cy="201168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17" name="Text 14"/>
          <p:cNvSpPr/>
          <p:nvPr/>
        </p:nvSpPr>
        <p:spPr>
          <a:xfrm>
            <a:off x="3968496" y="275234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피드 (소셜)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968496" y="30083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feeds, feed_images, feed_comments, feed_likes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657600" y="3374136"/>
            <a:ext cx="201168" cy="201168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20" name="Text 17"/>
          <p:cNvSpPr/>
          <p:nvPr/>
        </p:nvSpPr>
        <p:spPr>
          <a:xfrm>
            <a:off x="3968496" y="33009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챌린지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968496" y="355701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challenges, participants, proofs, proof_files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57600" y="3922776"/>
            <a:ext cx="201168" cy="20116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3" name="Text 20"/>
          <p:cNvSpPr/>
          <p:nvPr/>
        </p:nvSpPr>
        <p:spPr>
          <a:xfrm>
            <a:off x="3968496" y="384962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968496" y="410565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notices, reports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57600" y="4370832"/>
            <a:ext cx="5074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57600" y="4370832"/>
            <a:ext cx="82296" cy="4572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7" name="Text 24"/>
          <p:cNvSpPr/>
          <p:nvPr/>
        </p:nvSpPr>
        <p:spPr>
          <a:xfrm>
            <a:off x="3840480" y="4370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PK = UUID v7</a:t>
            </a:r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·  주요 테이블 Soft Delete  ·  상세: dbdiagram.io + routine_mate.dbml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내용 구성 — 프로젝트 디렉터리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React(프론트) · Express(BFF) · FastAPI(API) 3-Tier 구조를 디렉터리로 분리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670048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463040"/>
            <a:ext cx="82296" cy="26700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159105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src/frontend  (React 19 + Vite)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234086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App.jsx — 라우터/세션 복원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LoginPage · SignupPage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RoutinePage · HomePage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FeedPage · MyPage · StatsPage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ChallengePage · AdminPage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NoticeList · NoticeDetail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config.js — API_BASE 단일 출처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136" y="1463040"/>
            <a:ext cx="2670048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74136" y="1463040"/>
            <a:ext cx="82296" cy="267004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5" name="Text 13"/>
          <p:cNvSpPr/>
          <p:nvPr/>
        </p:nvSpPr>
        <p:spPr>
          <a:xfrm>
            <a:off x="3538728" y="159105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A8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src/backend  (Express BFF)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557016" y="2176272"/>
            <a:ext cx="234086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app.js — 미들웨어·세션·라우터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lib/s3.js — S3 키 검증·삭제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middleware/ — requireAuth·Admin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routes/ — login·routine·feed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comment·like·mypage·stats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notice·report·challenge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database.js — fetchJson 헬퍼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91072" y="1463040"/>
            <a:ext cx="2670048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91072" y="1463040"/>
            <a:ext cx="82296" cy="2670048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19" name="Text 17"/>
          <p:cNvSpPr/>
          <p:nvPr/>
        </p:nvSpPr>
        <p:spPr>
          <a:xfrm>
            <a:off x="6455664" y="159105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E8E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src/python_api  (FastAPI)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2176272"/>
            <a:ext cx="234086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app.py — INTERNAL_API_KEY 게이트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database.py — PyMySQL 풀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routers/ — user·routine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completion·feed·comment·like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mypage·stats·notice·report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challenge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requirements.txt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279392"/>
            <a:ext cx="8229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79392"/>
            <a:ext cx="82296" cy="438912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427939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 · 배포  </a:t>
            </a:r>
            <a:pPr indent="0" marL="0"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docs/(보고서·마이그레이션 SQL·아키텍처)  ·  Dockerfile.*(.prod)  ·  docker-compose(.prod).yml  ·  start*.sh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 파일 구성 — 한눈에 보기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" cy="15544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3990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8368" y="2075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 소스 파일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236829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프론트 14 · 백엔드 16 · API 13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3280" y="12344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83280" y="1234440"/>
            <a:ext cx="82296" cy="15544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13990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15,300+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584448" y="2075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라인 (LOC)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4448" y="236829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CSS · 외부 라이브러리 제외 실측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09360" y="12344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1234440"/>
            <a:ext cx="82296" cy="15544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3990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510528" y="2075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계층 (Tier)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10528" y="236829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React · Express BFF · FastAPI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063240"/>
            <a:ext cx="82296" cy="13716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00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분담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3566160"/>
            <a:ext cx="7818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본인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Express BFF · FastAPI 라우터 중 챌린지를 제외한 전부, DB 스키마·마이그레이션, Docker·AWS·배포 (백엔드·DB·인프라)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팀원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프론트엔드(React) 전체, 챌린지 API(challenge.js · challenge.py)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 파일 구성 — Frontend (React 19) · 팀원 담당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77240"/>
                <a:gridCol w="86868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라인수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App.jsx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899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라우터 · 새로고침 세션 자동복원 · 전역 상태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LoginPage.jsx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· 아이디/비밀번호 찾기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SignupPage.jsx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회원가입 · 중복확인 · 입력 유효성 검사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RoutinePage.jsx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437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시간대별 루틴 등록 · 완료 토글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HomePage.jsx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936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홈 · 오늘의 루틴 · 인증 사진 업로드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FeedPage.jsx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1091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피드 무한스크롤 · 댓글 · 좋아요 · 신고 모달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MyPage.jsx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904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프로필 · 갤러리 · 핵심지표 · 아바타 업로드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StatsPage.jsx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시간대/주간/월간 달성률 차트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ChallengePage.jsx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971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챌린지 목록 · 참가 · 인증 업로드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AdminPage.jsx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862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공지 · 신고 처리 · 관리자(+챌린지 등록)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NoticeList/Detail.jsx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256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공지 목록 · 상세 열람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main.jsx · config.js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47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앱 엔트리 · API_BASE 단일 출처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 파일 구성 — Backend (Express BFF)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77240"/>
                <a:gridCol w="86868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A8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라인수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A8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A8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A8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app.js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미들웨어 · 세션 · CORS · 라우터 마운트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database.js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708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FastAPI 호출 · fetchJson 헬퍼 · 세션 DB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lib/s3.js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S3 키 검증 · 객체 삭제 (보안 가드)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middleware/ (auth·admin)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77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 인증 가드 · 관리자 권한 가드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login.js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605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인증 · 세션 발급 · 프로필 · 아바타 업로드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routine.js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루틴 CRUD 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completion.js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107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루틴 완료 기록 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feed.js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219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피드 · multer-s3 업로드 · orphan 보상삭제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comment.js · like.js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댓글 · 좋아요 토글 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mypage.js · stats.js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97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마이페이지 · 통계 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notice.js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140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공지 중계 (관리자)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report.js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128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신고 접수 · 제재 처리 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challenge.js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챌린지 업로드 · CRUD · 현황 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 파일 구성 — Application API (FastAPI)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77240"/>
                <a:gridCol w="86868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라인수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7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7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app.py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120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INTERNAL_API_KEY 게이트 · 라우터 마운트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database.py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PyMySQL 커넥션 풀 · slow-SQL 로그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user.py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697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회원가입 · 세션 · 프로필 수정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routine.py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루틴 CRUD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completion.py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293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 기록 · 하루 1회 중복 방지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feed.py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646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JOIN · 커서 페이지네이션 · 챌린지 병합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comment.py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댓글 CRUD · 작성자 소유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like.py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159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좋아요 UNIQUE 제약 토글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mypage.py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263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summary · gallery · 연속달성(streak) 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stats.py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239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시간대/기간별 달성률 집계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notice.py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공지 CRUD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report.py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454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7C7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본인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신고 접수 · 중복 차단 · 관리자 제재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challenge.py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C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840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833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A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챌린지 참여 · 인증 · 관리자 CRUD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메뉴별 기능 — 화면 구성 맵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25880"/>
            <a:ext cx="1499616" cy="8229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1581912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581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0352" y="203911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회원가입 · 로그인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235000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 생성 · httpOnly 세션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132588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39696" y="1325880"/>
            <a:ext cx="1499616" cy="8229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8336" y="1581912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2688336" y="1581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212848" y="203911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31136" y="235000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루틴 · 인증 업로드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822192" y="132588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822192" y="1325880"/>
            <a:ext cx="1499616" cy="8229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2" name="Shape 20"/>
          <p:cNvSpPr/>
          <p:nvPr/>
        </p:nvSpPr>
        <p:spPr>
          <a:xfrm>
            <a:off x="4370832" y="1581912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1"/>
          <p:cNvSpPr/>
          <p:nvPr/>
        </p:nvSpPr>
        <p:spPr>
          <a:xfrm>
            <a:off x="4370832" y="1581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95344" y="203911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913632" y="235000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시간대별 등록 · 완료 체크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504688" y="132588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04688" y="1325880"/>
            <a:ext cx="1499616" cy="82296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28" name="Shape 26"/>
          <p:cNvSpPr/>
          <p:nvPr/>
        </p:nvSpPr>
        <p:spPr>
          <a:xfrm>
            <a:off x="6053328" y="1581912"/>
            <a:ext cx="402336" cy="402336"/>
          </a:xfrm>
          <a:prstGeom prst="ellipse">
            <a:avLst/>
          </a:prstGeom>
          <a:solidFill>
            <a:srgbClr val="2AA8A8"/>
          </a:solidFill>
          <a:ln/>
        </p:spPr>
      </p:sp>
      <p:sp>
        <p:nvSpPr>
          <p:cNvPr id="29" name="Text 27"/>
          <p:cNvSpPr/>
          <p:nvPr/>
        </p:nvSpPr>
        <p:spPr>
          <a:xfrm>
            <a:off x="6053328" y="1581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577840" y="203911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596128" y="235000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인증 사진 · 댓글 · 좋아요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187184" y="132588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187184" y="1325880"/>
            <a:ext cx="1499616" cy="82296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34" name="Shape 32"/>
          <p:cNvSpPr/>
          <p:nvPr/>
        </p:nvSpPr>
        <p:spPr>
          <a:xfrm>
            <a:off x="7735824" y="1581912"/>
            <a:ext cx="402336" cy="402336"/>
          </a:xfrm>
          <a:prstGeom prst="ellipse">
            <a:avLst/>
          </a:prstGeom>
          <a:solidFill>
            <a:srgbClr val="2AA8A8"/>
          </a:solidFill>
          <a:ln/>
        </p:spPr>
      </p:sp>
      <p:sp>
        <p:nvSpPr>
          <p:cNvPr id="35" name="Text 33"/>
          <p:cNvSpPr/>
          <p:nvPr/>
        </p:nvSpPr>
        <p:spPr>
          <a:xfrm>
            <a:off x="7735824" y="1581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260336" y="203911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마이페이지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78624" y="235000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프로필 · 갤러리 · 연속달성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297180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2971800"/>
            <a:ext cx="1499616" cy="82296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5840" y="3227832"/>
            <a:ext cx="402336" cy="402336"/>
          </a:xfrm>
          <a:prstGeom prst="ellipse">
            <a:avLst/>
          </a:prstGeom>
          <a:solidFill>
            <a:srgbClr val="2AA8A8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530352" y="368503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통계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48640" y="399592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시간대/주간/월간 달성률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139696" y="297180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2139696" y="2971800"/>
            <a:ext cx="1499616" cy="82296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46" name="Shape 44"/>
          <p:cNvSpPr/>
          <p:nvPr/>
        </p:nvSpPr>
        <p:spPr>
          <a:xfrm>
            <a:off x="2688336" y="3227832"/>
            <a:ext cx="402336" cy="402336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7" name="Text 45"/>
          <p:cNvSpPr/>
          <p:nvPr/>
        </p:nvSpPr>
        <p:spPr>
          <a:xfrm>
            <a:off x="2688336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2212848" y="368503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챌린지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2231136" y="399592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참가 · 인증 · 피드 공유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822192" y="297180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822192" y="2971800"/>
            <a:ext cx="1499616" cy="82296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52" name="Shape 50"/>
          <p:cNvSpPr/>
          <p:nvPr/>
        </p:nvSpPr>
        <p:spPr>
          <a:xfrm>
            <a:off x="4370832" y="3227832"/>
            <a:ext cx="402336" cy="402336"/>
          </a:xfrm>
          <a:prstGeom prst="ellipse">
            <a:avLst/>
          </a:prstGeom>
          <a:solidFill>
            <a:srgbClr val="3E8E7E"/>
          </a:solidFill>
          <a:ln/>
        </p:spPr>
      </p:sp>
      <p:sp>
        <p:nvSpPr>
          <p:cNvPr id="53" name="Text 51"/>
          <p:cNvSpPr/>
          <p:nvPr/>
        </p:nvSpPr>
        <p:spPr>
          <a:xfrm>
            <a:off x="4370832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3895344" y="368503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공지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3913632" y="399592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관리자 공지 열람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504688" y="297180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504688" y="2971800"/>
            <a:ext cx="1499616" cy="82296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58" name="Shape 56"/>
          <p:cNvSpPr/>
          <p:nvPr/>
        </p:nvSpPr>
        <p:spPr>
          <a:xfrm>
            <a:off x="6053328" y="3227832"/>
            <a:ext cx="402336" cy="402336"/>
          </a:xfrm>
          <a:prstGeom prst="ellipse">
            <a:avLst/>
          </a:prstGeom>
          <a:solidFill>
            <a:srgbClr val="3E8E7E"/>
          </a:solidFill>
          <a:ln/>
        </p:spPr>
      </p:sp>
      <p:sp>
        <p:nvSpPr>
          <p:cNvPr id="59" name="Text 57"/>
          <p:cNvSpPr/>
          <p:nvPr/>
        </p:nvSpPr>
        <p:spPr>
          <a:xfrm>
            <a:off x="6053328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5577840" y="368503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596128" y="399592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피드 신고 · 카테고리 6종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187184" y="297180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187184" y="2971800"/>
            <a:ext cx="1499616" cy="82296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64" name="Shape 62"/>
          <p:cNvSpPr/>
          <p:nvPr/>
        </p:nvSpPr>
        <p:spPr>
          <a:xfrm>
            <a:off x="7735824" y="3227832"/>
            <a:ext cx="402336" cy="402336"/>
          </a:xfrm>
          <a:prstGeom prst="ellipse">
            <a:avLst/>
          </a:prstGeom>
          <a:solidFill>
            <a:srgbClr val="0B3B3C"/>
          </a:solidFill>
          <a:ln/>
        </p:spPr>
      </p:sp>
      <p:sp>
        <p:nvSpPr>
          <p:cNvPr id="65" name="Text 63"/>
          <p:cNvSpPr/>
          <p:nvPr/>
        </p:nvSpPr>
        <p:spPr>
          <a:xfrm>
            <a:off x="7735824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7260336" y="368503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관리자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7278624" y="3995928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공지 · 신고 · 챌린지 관리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메뉴별 기능 — 회원가입 · 로그인 시나리오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회원가입 입력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아이디·비번·닉네임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95882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79930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2AA8A8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34794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중복 검사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34794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login_id UNIQUE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18611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02659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3E8E7E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57523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bcrypt 해시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57523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salt round 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41341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5389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80253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발급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80253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httpOnly 쿠키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4070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48118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0B3B3C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02982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 유지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02982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credentials:include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743200"/>
            <a:ext cx="8229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2743200"/>
            <a:ext cx="82296" cy="17830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28712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포인트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1520" y="3218688"/>
            <a:ext cx="7680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비밀번호는 Express에서 bcrypt 해시 후 저장 → DB에는 해시 문자열만 보관(평문 금지)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ID(UUID v4)는 DB sessions 테이블 + httpOnly 쿠키 → JS 접근 불가로 XSS 토큰 탈취 방어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login_id UNIQUE 인덱스 + Express 사전 검증 이중화 → 동시 가입 레이스에도 안전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레거시 평문 비밀번호는 로그인 성공 시 자동으로 bcrypt 해시로 교체(lazy migration)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메뉴별 기능 — 루틴 등록 · 완료 체크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937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25880"/>
            <a:ext cx="82296" cy="71323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Shape 8"/>
          <p:cNvSpPr/>
          <p:nvPr/>
        </p:nvSpPr>
        <p:spPr>
          <a:xfrm>
            <a:off x="603504" y="1481328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4300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등록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43000" y="1673352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아침/점심/저녁 시간대 + 제목 입력 → routines INSERT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167128"/>
            <a:ext cx="4937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167128"/>
            <a:ext cx="82296" cy="71323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2322576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 체크 ✓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43000" y="251460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 시 오늘 동일 루틴 완료 행 확인 후 INSERT (BEGIN→COMMIT)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008376"/>
            <a:ext cx="4937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008376"/>
            <a:ext cx="82296" cy="71323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2" name="Shape 20"/>
          <p:cNvSpPr/>
          <p:nvPr/>
        </p:nvSpPr>
        <p:spPr>
          <a:xfrm>
            <a:off x="603504" y="3163824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" y="3163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43000" y="3099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달성률 재계산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43000" y="335584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distinct routine_id 기준 1회 인정 → 즉시 화면 반영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849624"/>
            <a:ext cx="4937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3849624"/>
            <a:ext cx="82296" cy="71323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4005072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603504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3941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 해제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43000" y="41970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Soft Delete (deleted_at) → 기록 보존하며 미완료 처리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77840" y="132588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577840" y="1325880"/>
            <a:ext cx="82296" cy="310896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4" name="Text 32"/>
          <p:cNvSpPr/>
          <p:nvPr/>
        </p:nvSpPr>
        <p:spPr>
          <a:xfrm>
            <a:off x="5760720" y="14630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 판정 규칙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1874520"/>
            <a:ext cx="2788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완료 = DATE(completed_at) = CURDATE()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(KST 기준 통일)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 여러 번 체크해도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distinct routine_id 단위 1회만 인정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마이페이지 달성률·연속달성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계산도 동일 규칙 적용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메뉴별 기능 — 피드 작성 · 무한 스크롤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선택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이미지/영상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95882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79930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2AA8A8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34794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multer-s3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34794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S3 직접 PUT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18611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02659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3E8E7E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57523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feeds INSERT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57523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feeds+images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41341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5389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80253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커서 조회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80253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/feed?cursor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4070" y="132588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48118" y="1325880"/>
            <a:ext cx="1338682" cy="1051560"/>
          </a:xfrm>
          <a:prstGeom prst="roundRect">
            <a:avLst>
              <a:gd name="adj" fmla="val 6957"/>
            </a:avLst>
          </a:prstGeom>
          <a:solidFill>
            <a:srgbClr val="0B3B3C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02982" y="145389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무한 스크롤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02982" y="1801368"/>
            <a:ext cx="1228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Observer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743200"/>
            <a:ext cx="8229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2743200"/>
            <a:ext cx="82296" cy="17830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28712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포인트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1520" y="3218688"/>
            <a:ext cx="7680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multer-s3가 EC2 임시 디스크를 건너뛰고 S3로 직접 업로드 → 디스크 IO 0, 임시파일 청소 불필요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FastAPI INSERT 실패 시 Express가 업로드된 S3 객체를 보상 삭제(orphan 청소)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커서 페이지네이션(created_at, feed_id) → 새 글 추가/삭제에도 중복·누락 없음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챌린지 인증(share_to_feed=1)을 같은 피드 목록에 source_type 메타로 병합 표시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메뉴별 기능 — 마이페이지 · 통계 (단일 응답)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258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/mypage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번의 호출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132588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325880"/>
            <a:ext cx="82296" cy="1005840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프로필 1행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93208" y="132588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93208" y="1325880"/>
            <a:ext cx="82296" cy="1005840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summary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38928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루틴·완료·streak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940296" y="132588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40296" y="1325880"/>
            <a:ext cx="82296" cy="1005840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21" name="Text 19"/>
          <p:cNvSpPr/>
          <p:nvPr/>
        </p:nvSpPr>
        <p:spPr>
          <a:xfrm>
            <a:off x="6986016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gallery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86016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피드+이미지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8229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743200"/>
            <a:ext cx="82296" cy="17830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28712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집계 설계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3218688"/>
            <a:ext cx="7680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번의 /mypage 호출로 user + summary + gallery 동시 수신 → 새로고침 시 N+1 호출 제거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연속 달성(streak): 오늘부터 거꾸로 '하루 1개 이상 완료'가 끊기지 않는 길이를 앱에서 계산(최근 365일)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통계: 시간대별 7일 달성률 + 월별 캘린더 완료일 + 누적 인증 수를 인덱스(user_id, completed_at) 위에서 집계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집계는 FastAPI에서 단일 JSON으로 모아 응답 → 프론트는 차트 렌더링에만 집중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메뉴별 기능 — 공지 · 신고 · 챌린지 연동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114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80160"/>
            <a:ext cx="82296" cy="3154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081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피드 신고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7830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 대상은 피드 전용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카테고리 6종 + 상세 사유 입력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신고자는 세션에서 주입(위조 방지)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대상자는 feed_id로 작성자 자체 조회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동일인 중복 신고(pending) 409 차단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관리자: 한 피드의 신고 일괄 처리(completed)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39319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280160"/>
            <a:ext cx="82296" cy="31546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4956048" y="140817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공지 · 챌린지 연동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56048" y="178308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공지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관리자가 작성(requireAdmin), 사용자는 목록·상세 열람, Soft Delete 필터 적용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챌린지 → 피드 공유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챌린지 인증을 별도 feeds 행으로 복제하지 않고, share_to_feed=1 인증을 GET /feed 단계에서 source_type="challenge" 메타로 병합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관리자 페이지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공지 작성 · 신고 처리 · 챌린지 현황을 한 화면에서 운영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프로젝트를 수행하며 배우고 느낀점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07008"/>
            <a:ext cx="82296" cy="14813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350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설계로 체득한 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" y="1682496"/>
            <a:ext cx="36667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3-Tier(BFF) 구조를 직접 설계하며 '왜 계층을 나누는가'를 코드로 이해했다. 세션·CORS·업로드는 Express가, 도메인 로직·DB는 FastAPI가 맡도록 신뢰 경계를 나누니 책임과 보안이 명확해졌다.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17720" y="1207008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207008"/>
            <a:ext cx="82296" cy="148132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4" name="Text 12"/>
          <p:cNvSpPr/>
          <p:nvPr/>
        </p:nvSpPr>
        <p:spPr>
          <a:xfrm>
            <a:off x="4818888" y="13350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A8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운영을 가정한 문제 해결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37176" y="1682496"/>
            <a:ext cx="36667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커넥션 누수·S3 orphan 파일·분산 트랜잭션 같은 문제를 마주하며 풀 반환(try/finally), 보상 삭제, 커서 페이지네이션을 도입했다. PyMySQL 커넥션 풀을 의존성 없이 직접 구현하며 동시성·자원 관리를 깊이 배웠다.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52928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52928"/>
            <a:ext cx="82296" cy="1481328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809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무결성과 품질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" y="3328416"/>
            <a:ext cx="36667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Soft Delete 필터 누락 같은 무결성 이슈를 P0로 분류해 잡았고, 백로그·코드리뷰 문서로 기술 부채를 추적했다. 모든 수정에 4요소 주석 규칙을 세워 협업 가독성을 높였다.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17720" y="2852928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17720" y="2852928"/>
            <a:ext cx="82296" cy="14813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4818888" y="29809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협업과 통합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37176" y="3328416"/>
            <a:ext cx="36667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프론트엔드 팀에 API 명세·응답 스키마를 제공해 연동을 맞추고, Docker로 팀 전체의 개발·운영 환경을 일치시켰다. 혼자가 아니라 함께 굴러가는 코드를 만드는 법을 배웠다.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370832"/>
            <a:ext cx="82296" cy="457200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"동작하는 코드에서 운영 가능한 코드로 가는 거리"를 체감한 프로젝트였다.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향후 과제 — 백엔드 · DB · 인프라 관점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60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향후 과제는 팀원별 각자 작성 — 아래는 본인 담당 영역(백엔드·DB·인프라)의 개선 로드맵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417320"/>
            <a:ext cx="82296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54533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권한 모델 고도화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1892808"/>
            <a:ext cx="36667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login_id == "admin" 문자열 판별을 users.role 기반 RBAC로 전환. /me 응답에 role을 포함해 새로고침 후 관리자 상태까지 복구.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141732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417320"/>
            <a:ext cx="82296" cy="1463040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18888" y="154533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A8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인증 보안 강화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37176" y="1892808"/>
            <a:ext cx="36667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비밀번호 변경 시 전체 세션 무효화, 아이디/비밀번호 찾기 IP 기준 rate limit, 이메일 토큰 기반 재설정, Helmet/CSP 헤더 적용.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044952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044952"/>
            <a:ext cx="82296" cy="1463040"/>
          </a:xfrm>
          <a:prstGeom prst="rect">
            <a:avLst/>
          </a:prstGeom>
          <a:solidFill>
            <a:srgbClr val="3E8E7E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3172968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 관측성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" y="3520440"/>
            <a:ext cx="36667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slow request/SQL 로그를 CloudWatch·Grafana로 연동, 5xx 비율·커넥션 풀 대기 알림, 관리자 행위 audit log 테이블 도입.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17720" y="3044952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3044952"/>
            <a:ext cx="82296" cy="1463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3172968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성능 · 자동화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37176" y="3520440"/>
            <a:ext cx="36667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 압축·썸네일(WebP), 커넥션 풀 파라미터 튜닝, CI에서 lint/build/py_compile 자동 실행으로 배포 전 회귀 차단, 무중단 롤링 배포.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786384" cy="420624"/>
          </a:xfrm>
          <a:prstGeom prst="roundRect">
            <a:avLst>
              <a:gd name="adj" fmla="val 17391"/>
            </a:avLst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3B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방법 (Windows)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0" y="950976"/>
            <a:ext cx="9144000" cy="18288"/>
          </a:xfrm>
          <a:prstGeom prst="rect">
            <a:avLst/>
          </a:prstGeom>
          <a:solidFill>
            <a:srgbClr val="2AA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Routine Mate  |  캡스톤 결과보고서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React + Express + FastAPI 3계층. DB(AWS RDS)·파일저장소(S3)는 외부 인프라 → 실행 시 자격증명(.env) 필요.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1338682" cy="1024128"/>
          </a:xfrm>
          <a:prstGeom prst="roundRect">
            <a:avLst>
              <a:gd name="adj" fmla="val 7143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12064" y="159105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사전 준비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" y="1938528"/>
            <a:ext cx="12289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 · Docker Desktop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795882" y="1463040"/>
            <a:ext cx="384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79930" y="1463040"/>
            <a:ext cx="1338682" cy="1024128"/>
          </a:xfrm>
          <a:prstGeom prst="roundRect">
            <a:avLst>
              <a:gd name="adj" fmla="val 7143"/>
            </a:avLst>
          </a:prstGeom>
          <a:solidFill>
            <a:srgbClr val="2AA8A8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234794" y="159105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소스 받기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34794" y="1938528"/>
            <a:ext cx="12289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 clone · checkout 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18611" y="1463040"/>
            <a:ext cx="384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02659" y="1463040"/>
            <a:ext cx="1338682" cy="1024128"/>
          </a:xfrm>
          <a:prstGeom prst="roundRect">
            <a:avLst>
              <a:gd name="adj" fmla="val 7143"/>
            </a:avLst>
          </a:prstGeom>
          <a:solidFill>
            <a:srgbClr val="3E8E7E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57523" y="159105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환경변수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57523" y="1938528"/>
            <a:ext cx="12289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.env 3개 작성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41341" y="1463040"/>
            <a:ext cx="384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25389" y="1463040"/>
            <a:ext cx="1338682" cy="1024128"/>
          </a:xfrm>
          <a:prstGeom prst="roundRect">
            <a:avLst>
              <a:gd name="adj" fmla="val 7143"/>
            </a:avLst>
          </a:prstGeom>
          <a:solidFill>
            <a:srgbClr val="0E7C7B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80253" y="159105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실행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80253" y="1938528"/>
            <a:ext cx="12289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docker compose up --build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64070" y="1463040"/>
            <a:ext cx="384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48118" y="1463040"/>
            <a:ext cx="1338682" cy="1024128"/>
          </a:xfrm>
          <a:prstGeom prst="roundRect">
            <a:avLst>
              <a:gd name="adj" fmla="val 7143"/>
            </a:avLst>
          </a:prstGeom>
          <a:solidFill>
            <a:srgbClr val="0B3B3C"/>
          </a:solidFill>
          <a:ln/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02982" y="1591056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접속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02982" y="1938528"/>
            <a:ext cx="12289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F2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localhost:5173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834640"/>
            <a:ext cx="8229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2"/>
            </a:solidFill>
            <a:prstDash val="solid"/>
          </a:ln>
          <a:effectLst>
            <a:outerShdw sx="100000" sy="100000" kx="0" ky="0" algn="bl" rotWithShape="0" blurRad="88900" dist="38100" dir="8100000">
              <a:srgbClr val="0B3B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2834640"/>
            <a:ext cx="82296" cy="178308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296265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안내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" y="3310128"/>
            <a:ext cx="7680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DB(AWS RDS)·파일저장소(S3)는 외부 인프라이므로 실행하려면 자격증명 .env가 필요하다(제출 시 별도 전달).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src\backend\.env 와 src\python_api\.env 의 INTERNAL_API_KEY 는 반드시 같은 값이어야 한다.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Docker 없이도 가능: PowerShell 3개에서 uvicorn app:app --port 8000 · npm start(backend) · npm run dev(루트).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A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접속은 http://localhost:5173 (Express 3000·FastAPI 8000은 내부 통신용).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Routine Mate 캡스톤 결과보고서 — 본인 담당 파트</dc:title>
  <dc:subject>PptxGenJS Presentation</dc:subject>
  <dc:creator>Routine Mate Team</dc:creator>
  <cp:lastModifiedBy>Routine Mate Team</cp:lastModifiedBy>
  <cp:revision>1</cp:revision>
  <dcterms:created xsi:type="dcterms:W3CDTF">2026-06-01T09:52:46Z</dcterms:created>
  <dcterms:modified xsi:type="dcterms:W3CDTF">2026-06-01T09:52:46Z</dcterms:modified>
</cp:coreProperties>
</file>